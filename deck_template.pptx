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047750"/>
            <a:ext cx="2919487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715964"/>
            <a:ext cx="13620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TEMPLATE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3439864"/>
            <a:ext cx="12753975" cy="233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821"/>
              </a:lnSpc>
              <a:buNone/>
            </a:pPr>
            <a:r>
              <a:rPr lang="en-US" sz="8850" spc="-133" kern="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Mariner deck </a:t>
            </a:r>
            <a:pPr algn="l" indent="0" marL="0">
              <a:lnSpc>
                <a:spcPct val="89821"/>
              </a:lnSpc>
              <a:buNone/>
            </a:pPr>
            <a:r>
              <a:rPr lang="en-US" sz="8850" i="1" spc="-133" kern="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1143000" y="6151811"/>
            <a:ext cx="8829675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branded starting point for client, internal, and thought-leadership presentations — with ready layouts, tables, and live charts.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143000" y="8896350"/>
            <a:ext cx="435659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08" kern="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Mariner · Confidential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6002000" y="9201150"/>
            <a:ext cx="1143000" cy="38100"/>
          </a:xfrm>
          <a:prstGeom prst="rect">
            <a:avLst/>
          </a:prstGeom>
          <a:solidFill>
            <a:srgbClr val="D953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template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777430"/>
            <a:ext cx="54762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3615630"/>
            <a:ext cx="5334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872805"/>
            <a:ext cx="54762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 layout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4349055"/>
            <a:ext cx="512772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slide closest to what you need, right-click its thumbnail, and duplicate. Swap the copy in place.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54775" y="2777430"/>
            <a:ext cx="54762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654775" y="3615630"/>
            <a:ext cx="5334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0" name="Text 8"/>
          <p:cNvSpPr/>
          <p:nvPr/>
        </p:nvSpPr>
        <p:spPr>
          <a:xfrm>
            <a:off x="6654775" y="3872805"/>
            <a:ext cx="54762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system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654775" y="4349055"/>
            <a:ext cx="512772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Serif titles, Arial body, and the palette are set. Edit text and data; don't restyle type or invent colors.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166550" y="2777430"/>
            <a:ext cx="547629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2166550" y="3615630"/>
            <a:ext cx="5334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166550" y="3872805"/>
            <a:ext cx="54762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accents sparingly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166550" y="4349055"/>
            <a:ext cx="512780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and Fast orange are wayfinding cues — rules, labels, a single highlight. Never a full background.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8121104"/>
            <a:ext cx="16002000" cy="1327696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8440192"/>
            <a:ext cx="256248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20232" y="8425904"/>
            <a:ext cx="1302308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2–7 explain the system. Everything from slide 8 on is a working layout you can copy. Section dividers mark each family of layouts.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" y="9572625"/>
            <a:ext cx="28928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Footnotes and sources go here.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PALETTE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Colors &amp; wayfinding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25030"/>
            <a:ext cx="3771900" cy="1428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225230"/>
            <a:ext cx="4149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4596705"/>
            <a:ext cx="41490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#000000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19700" y="2625030"/>
            <a:ext cx="3771900" cy="142875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8" name="Text 6"/>
          <p:cNvSpPr/>
          <p:nvPr/>
        </p:nvSpPr>
        <p:spPr>
          <a:xfrm>
            <a:off x="5219700" y="4225230"/>
            <a:ext cx="4149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219700" y="4596705"/>
            <a:ext cx="41490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#F0E6DD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96400" y="2625030"/>
            <a:ext cx="37719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B5B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96400" y="4225230"/>
            <a:ext cx="4149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296400" y="4596705"/>
            <a:ext cx="41490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73100" y="2625030"/>
            <a:ext cx="3771900" cy="1428750"/>
          </a:xfrm>
          <a:prstGeom prst="rect">
            <a:avLst/>
          </a:prstGeom>
          <a:solidFill>
            <a:srgbClr val="2294BD"/>
          </a:solidFill>
          <a:ln/>
        </p:spPr>
      </p:sp>
      <p:sp>
        <p:nvSpPr>
          <p:cNvPr id="14" name="Text 12"/>
          <p:cNvSpPr/>
          <p:nvPr/>
        </p:nvSpPr>
        <p:spPr>
          <a:xfrm>
            <a:off x="13373100" y="4225230"/>
            <a:ext cx="4149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373100" y="4596705"/>
            <a:ext cx="41490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#2294BD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5434905"/>
            <a:ext cx="609600" cy="6096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7" name="Text 15"/>
          <p:cNvSpPr/>
          <p:nvPr/>
        </p:nvSpPr>
        <p:spPr>
          <a:xfrm>
            <a:off x="1943100" y="5396805"/>
            <a:ext cx="20129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43100" y="5739705"/>
            <a:ext cx="20129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#D9532B · accent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92116" y="5434905"/>
            <a:ext cx="609600" cy="609600"/>
          </a:xfrm>
          <a:prstGeom prst="rect">
            <a:avLst/>
          </a:prstGeom>
          <a:solidFill>
            <a:srgbClr val="FAA51A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216" y="5396805"/>
            <a:ext cx="20129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92216" y="5739705"/>
            <a:ext cx="20129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#FAA51A · accent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8121104"/>
            <a:ext cx="16002000" cy="1327696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8440192"/>
            <a:ext cx="256248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20232" y="8425904"/>
            <a:ext cx="1302308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Black, cream, white and Access may fill a whole slide. Use Access with intent. Rust and Fast appear only in small doses — rules, labels, one highlighted figure.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43000" y="9572625"/>
            <a:ext cx="28928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Footnotes and sources go here.</a:t>
            </a:r>
            <a:endParaRPr lang="en-US" sz="15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SYSTEM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 &amp; titles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25030"/>
            <a:ext cx="8872290" cy="184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79"/>
              </a:lnSpc>
              <a:buNone/>
            </a:pPr>
            <a:r>
              <a:rPr lang="en-US" sz="6900" spc="-69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Hard-won and </a:t>
            </a:r>
            <a:pPr algn="l" indent="0" marL="0">
              <a:lnSpc>
                <a:spcPct val="90679"/>
              </a:lnSpc>
              <a:buNone/>
            </a:pPr>
            <a:r>
              <a:rPr lang="en-US" sz="6900" i="1" spc="-69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well-planned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143000" y="4696867"/>
            <a:ext cx="94752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· Regular (400) · action words italicized · titles are never bold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8874" y="2625030"/>
            <a:ext cx="728865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— section header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518874" y="3329880"/>
            <a:ext cx="6626051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8" name="Text 6"/>
          <p:cNvSpPr/>
          <p:nvPr/>
        </p:nvSpPr>
        <p:spPr>
          <a:xfrm>
            <a:off x="10518874" y="3587055"/>
            <a:ext cx="6824833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Regular sets body copy at a comfortable reading measure. Headers are Arial in Access or Rust. Body text stays black or cream.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518874" y="5074816"/>
            <a:ext cx="6626051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8874" y="5331991"/>
            <a:ext cx="72886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EYEBROW · ARIAL BOLD · UPPERCASE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7507560"/>
            <a:ext cx="16002000" cy="1941240"/>
          </a:xfrm>
          <a:prstGeom prst="rect">
            <a:avLst/>
          </a:prstGeom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 rot="10800000">
            <a:off x="1143000" y="7507560"/>
            <a:ext cx="628650" cy="194124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3" name="Text 11"/>
          <p:cNvSpPr/>
          <p:nvPr/>
        </p:nvSpPr>
        <p:spPr>
          <a:xfrm rot="10800000">
            <a:off x="1276350" y="7507560"/>
            <a:ext cx="361950" cy="1979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lnSpc>
                <a:spcPct val="133333"/>
              </a:lnSpc>
              <a:buNone/>
            </a:pPr>
            <a:r>
              <a:rPr lang="en-US" sz="1500" b="1" spc="2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771650" y="7507560"/>
            <a:ext cx="15373350" cy="194124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15" name="Text 13"/>
          <p:cNvSpPr/>
          <p:nvPr/>
        </p:nvSpPr>
        <p:spPr>
          <a:xfrm>
            <a:off x="2190750" y="8270900"/>
            <a:ext cx="13582687" cy="452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39"/>
              </a:lnSpc>
              <a:buNone/>
            </a:pPr>
            <a:r>
              <a:rPr lang="en-US" sz="255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Titles in serif, everything else in Arial — italicize an action word or two for emphasis.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43000" y="9572625"/>
            <a:ext cx="28928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Footnotes and sources go here.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Layout families at a glance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63130"/>
            <a:ext cx="36861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01255"/>
            <a:ext cx="4054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301305"/>
            <a:ext cx="40547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Openings &amp; statements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248275" y="2663130"/>
            <a:ext cx="36861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248275" y="2901255"/>
            <a:ext cx="4054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48275" y="3301305"/>
            <a:ext cx="40547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content layouts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53550" y="2663130"/>
            <a:ext cx="36861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9353550" y="2901255"/>
            <a:ext cx="4054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53550" y="3301305"/>
            <a:ext cx="40547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tables &amp; stats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458825" y="2663130"/>
            <a:ext cx="36861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458825" y="2901255"/>
            <a:ext cx="4054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458825" y="3301305"/>
            <a:ext cx="40547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&amp; analysis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" y="4110930"/>
            <a:ext cx="36861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349055"/>
            <a:ext cx="4054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749105"/>
            <a:ext cx="37967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Process, timeline &amp; frameworks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5248275" y="4110930"/>
            <a:ext cx="36861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248275" y="4349055"/>
            <a:ext cx="4054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48275" y="4749105"/>
            <a:ext cx="40547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proof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353550" y="4110930"/>
            <a:ext cx="3686175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9353550" y="4349055"/>
            <a:ext cx="4054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53550" y="4749105"/>
            <a:ext cx="40547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&amp; disclosures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3458825" y="4110930"/>
            <a:ext cx="3686175" cy="2857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26" name="Text 24"/>
          <p:cNvSpPr/>
          <p:nvPr/>
        </p:nvSpPr>
        <p:spPr>
          <a:xfrm>
            <a:off x="13458825" y="4349055"/>
            <a:ext cx="4054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458825" y="4749105"/>
            <a:ext cx="37967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or asymmetric variants throughout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143000" y="8010227"/>
            <a:ext cx="16002000" cy="1438573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29" name="Text 27"/>
          <p:cNvSpPr/>
          <p:nvPr/>
        </p:nvSpPr>
        <p:spPr>
          <a:xfrm>
            <a:off x="1524000" y="8386465"/>
            <a:ext cx="256248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20232" y="8315027"/>
            <a:ext cx="13023081" cy="86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39"/>
              </a:lnSpc>
              <a:buNone/>
            </a:pPr>
            <a:r>
              <a:rPr lang="en-US" sz="255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family opens with a section divider — mix structured grids and asymmetric moments freely.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143000" y="9572625"/>
            <a:ext cx="28928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Footnotes and sources go here.</a:t>
            </a:r>
            <a:endParaRPr lang="en-US" sz="15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EXAMPLE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tables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258443"/>
            <a:ext cx="9309795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58380"/>
            <a:ext cx="419174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84775" y="2758380"/>
            <a:ext cx="126392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77298" y="2758380"/>
            <a:ext cx="126392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69821" y="2758380"/>
            <a:ext cx="173057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287018"/>
            <a:ext cx="9309795" cy="742950"/>
          </a:xfrm>
          <a:prstGeom prst="rect">
            <a:avLst/>
          </a:prstGeom>
          <a:solidFill>
            <a:srgbClr val="F8F2EC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3458468"/>
            <a:ext cx="41917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under advisement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5584775" y="3458468"/>
            <a:ext cx="12639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$118B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7077298" y="3458468"/>
            <a:ext cx="12639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$146B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8569821" y="3458468"/>
            <a:ext cx="173057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295400" y="4201418"/>
            <a:ext cx="419174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households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5584775" y="4201418"/>
            <a:ext cx="126392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31,400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7077298" y="4201418"/>
            <a:ext cx="126392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37,900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8569821" y="4201418"/>
            <a:ext cx="173057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143000" y="4758630"/>
            <a:ext cx="9309795" cy="728663"/>
          </a:xfrm>
          <a:prstGeom prst="rect">
            <a:avLst/>
          </a:prstGeom>
          <a:solidFill>
            <a:srgbClr val="F8F2E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4930080"/>
            <a:ext cx="419174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5584775" y="4930080"/>
            <a:ext cx="126392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96.2%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7077298" y="4930080"/>
            <a:ext cx="126392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97.1%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8569821" y="4930080"/>
            <a:ext cx="173057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+0.9pp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295400" y="5658743"/>
            <a:ext cx="419174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5584775" y="5658743"/>
            <a:ext cx="126392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920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7077298" y="5658743"/>
            <a:ext cx="126392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1,080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8569821" y="5658743"/>
            <a:ext cx="173057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1138595" y="2586930"/>
            <a:ext cx="66070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tables quiet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1138595" y="3158430"/>
            <a:ext cx="1587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373520" y="3158430"/>
            <a:ext cx="533034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rule under the header, no vertical lines.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138595" y="3695626"/>
            <a:ext cx="1587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373520" y="3695626"/>
            <a:ext cx="432499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zebra striping for scanability.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138595" y="4232821"/>
            <a:ext cx="1587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373520" y="4232821"/>
            <a:ext cx="554251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Right-align numbers; label units in the header.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138595" y="4770016"/>
            <a:ext cx="15872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373520" y="4770016"/>
            <a:ext cx="587517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one column at most — usually the change.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143000" y="8480152"/>
            <a:ext cx="16002000" cy="968648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37" name="Text 35"/>
          <p:cNvSpPr/>
          <p:nvPr/>
        </p:nvSpPr>
        <p:spPr>
          <a:xfrm>
            <a:off x="1524000" y="8799240"/>
            <a:ext cx="256248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120232" y="8784952"/>
            <a:ext cx="918672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slides 24–25 for full-slide comparison and financial tables you can copy.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43000" y="9572625"/>
            <a:ext cx="28928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Footnotes and sources go here.</a:t>
            </a:r>
            <a:endParaRPr lang="en-US" sz="15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EXAMPLE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charts</a:t>
            </a:r>
            <a:endParaRPr lang="en-US" sz="5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86930"/>
            <a:ext cx="3743325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5444430"/>
            <a:ext cx="4117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/ column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143000" y="5873055"/>
            <a:ext cx="411765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categories or periods.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25" y="2586930"/>
            <a:ext cx="3743325" cy="2667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9225" y="5444430"/>
            <a:ext cx="4117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29225" y="5873055"/>
            <a:ext cx="411765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what drove a change.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2586930"/>
            <a:ext cx="3743325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15450" y="5444430"/>
            <a:ext cx="4117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315450" y="5873055"/>
            <a:ext cx="38556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two variables, e.g. risk vs. return.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1675" y="2586930"/>
            <a:ext cx="3743325" cy="2667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401675" y="5444430"/>
            <a:ext cx="4117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/ donut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3401675" y="5873055"/>
            <a:ext cx="411765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parts of a whole.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1143000" y="8046839"/>
            <a:ext cx="16002000" cy="1401961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17" name="Text 11"/>
          <p:cNvSpPr/>
          <p:nvPr/>
        </p:nvSpPr>
        <p:spPr>
          <a:xfrm>
            <a:off x="1524000" y="8408789"/>
            <a:ext cx="256248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120232" y="8351639"/>
            <a:ext cx="13023081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3"/>
              </a:lnSpc>
              <a:buNone/>
            </a:pPr>
            <a:r>
              <a:rPr lang="en-US" sz="24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Charts are live — edit the data arrays in the file. Access is the default series; Rust flags a decrease or the one point to emphasize.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1143000" y="9572625"/>
            <a:ext cx="28928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Footnotes and sources go here.</a:t>
            </a:r>
            <a:endParaRPr lang="en-US" sz="15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90636" y="2993898"/>
            <a:ext cx="6518560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15"/>
              </a:lnSpc>
              <a:buNone/>
            </a:pPr>
            <a:r>
              <a:rPr lang="en-US" sz="40000" spc="-930" kern="0" dirty="0">
                <a:solidFill>
                  <a:srgbClr val="FAA51A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0" y="1047750"/>
            <a:ext cx="57150" cy="81915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382839"/>
            <a:ext cx="10410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5068639"/>
            <a:ext cx="10410460" cy="873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0"/>
              </a:lnSpc>
              <a:buNone/>
            </a:pPr>
            <a:r>
              <a:rPr lang="en-US" sz="645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Openings &amp; </a:t>
            </a:r>
            <a:pPr algn="l" indent="0" marL="0">
              <a:lnSpc>
                <a:spcPct val="89510"/>
              </a:lnSpc>
              <a:buNone/>
            </a:pPr>
            <a:r>
              <a:rPr lang="en-US" sz="6450" i="1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statements</a:t>
            </a:r>
            <a:endParaRPr lang="en-US" sz="6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220200"/>
            <a:ext cx="248156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083769"/>
            <a:ext cx="6705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636219"/>
            <a:ext cx="6705600" cy="862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597"/>
              </a:lnSpc>
              <a:buNone/>
            </a:pPr>
            <a:r>
              <a:rPr lang="en-US" sz="6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5803181"/>
            <a:ext cx="6705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001000" y="3567113"/>
            <a:ext cx="9144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0" y="2819400"/>
            <a:ext cx="6477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8877300" y="2776538"/>
            <a:ext cx="205784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034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8001000" y="4614863"/>
            <a:ext cx="9144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867150"/>
            <a:ext cx="6477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877300" y="3824288"/>
            <a:ext cx="205784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034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8001000" y="5662613"/>
            <a:ext cx="9144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4914900"/>
            <a:ext cx="6477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D9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877300" y="4872038"/>
            <a:ext cx="163694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034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5255404" y="4972050"/>
            <a:ext cx="20785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216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01000" y="6710363"/>
            <a:ext cx="9144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5962650"/>
            <a:ext cx="6477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877300" y="5919788"/>
            <a:ext cx="205784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034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8001000" y="7010400"/>
            <a:ext cx="6477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8877300" y="6967538"/>
            <a:ext cx="188095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034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600200"/>
            <a:ext cx="157162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4500" spc="-45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body copy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8255794"/>
            <a:ext cx="4978375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8512969"/>
            <a:ext cx="54762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9027319"/>
            <a:ext cx="547621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654775" y="8255794"/>
            <a:ext cx="4978375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8" name="Text 6"/>
          <p:cNvSpPr/>
          <p:nvPr/>
        </p:nvSpPr>
        <p:spPr>
          <a:xfrm>
            <a:off x="6654775" y="8512969"/>
            <a:ext cx="54762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54775" y="9027319"/>
            <a:ext cx="547621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2166550" y="8255794"/>
            <a:ext cx="497845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1" name="Text 9"/>
          <p:cNvSpPr/>
          <p:nvPr/>
        </p:nvSpPr>
        <p:spPr>
          <a:xfrm>
            <a:off x="12166550" y="8512969"/>
            <a:ext cx="54762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66550" y="9027319"/>
            <a:ext cx="547629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352925"/>
            <a:ext cx="952500" cy="38100"/>
          </a:xfrm>
          <a:prstGeom prst="rect">
            <a:avLst/>
          </a:prstGeom>
          <a:solidFill>
            <a:srgbClr val="FAA51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924425"/>
            <a:ext cx="157162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92"/>
              </a:lnSpc>
              <a:buNone/>
            </a:pPr>
            <a:r>
              <a:rPr lang="en-US" sz="7500" spc="-112" kern="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body copy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428750"/>
            <a:ext cx="13096875" cy="106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74"/>
              </a:lnSpc>
              <a:buNone/>
            </a:pPr>
            <a:r>
              <a:rPr lang="en-US" sz="7800" spc="-117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body copy</a:t>
            </a:r>
            <a:endParaRPr lang="en-US" sz="7800" dirty="0"/>
          </a:p>
        </p:txBody>
      </p:sp>
      <p:sp>
        <p:nvSpPr>
          <p:cNvPr id="3" name="Shape 1"/>
          <p:cNvSpPr/>
          <p:nvPr/>
        </p:nvSpPr>
        <p:spPr>
          <a:xfrm>
            <a:off x="16383000" y="8601075"/>
            <a:ext cx="762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4" name="Text 2"/>
          <p:cNvSpPr/>
          <p:nvPr/>
        </p:nvSpPr>
        <p:spPr>
          <a:xfrm>
            <a:off x="14209827" y="8839200"/>
            <a:ext cx="293517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821832"/>
            <a:ext cx="167640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830"/>
              </a:lnSpc>
              <a:buNone/>
            </a:pPr>
            <a:r>
              <a:rPr lang="en-US" sz="10500" dirty="0">
                <a:solidFill>
                  <a:srgbClr val="E3D4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524000" y="4488582"/>
            <a:ext cx="15192375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4950" spc="-49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quotation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524000" y="6098456"/>
            <a:ext cx="533400" cy="1905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5750793"/>
            <a:ext cx="291667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ELLIS, CFP</a:t>
            </a:r>
            <a:pPr algn="l" indent="0" marL="0">
              <a:lnSpc>
                <a:spcPct val="130000"/>
              </a:lnSpc>
              <a:buNone/>
            </a:pPr>
            <a:r>
              <a:rPr lang="en-US" sz="1209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®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86000" y="6122268"/>
            <a:ext cx="291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08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29380" y="2993898"/>
            <a:ext cx="7355942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15"/>
              </a:lnSpc>
              <a:buNone/>
            </a:pPr>
            <a:r>
              <a:rPr lang="en-US" sz="40000" spc="-930" kern="0" dirty="0">
                <a:solidFill>
                  <a:srgbClr val="2294BD">
                    <a:alpha val="1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0" y="1047750"/>
            <a:ext cx="57150" cy="81915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382839"/>
            <a:ext cx="10410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5068639"/>
            <a:ext cx="10410460" cy="873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0"/>
              </a:lnSpc>
              <a:buNone/>
            </a:pPr>
            <a:r>
              <a:rPr lang="en-US" sz="64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content </a:t>
            </a:r>
            <a:pPr algn="l" indent="0" marL="0">
              <a:lnSpc>
                <a:spcPct val="89510"/>
              </a:lnSpc>
              <a:buNone/>
            </a:pPr>
            <a:r>
              <a:rPr lang="en-US" sz="645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layouts</a:t>
            </a:r>
            <a:endParaRPr lang="en-US" sz="6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220200"/>
            <a:ext cx="248156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36207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586930"/>
            <a:ext cx="13096875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17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3388891"/>
            <a:ext cx="130968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701230"/>
            <a:ext cx="829818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4"/>
              </a:lnSpc>
              <a:buNone/>
            </a:pPr>
            <a:r>
              <a:rPr lang="en-US" sz="24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3276526"/>
            <a:ext cx="82981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3918496"/>
            <a:ext cx="82981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0" y="2701230"/>
            <a:ext cx="829818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4"/>
              </a:lnSpc>
              <a:buNone/>
            </a:pPr>
            <a:r>
              <a:rPr lang="en-US" sz="2400" b="1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0" y="3276526"/>
            <a:ext cx="82981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0" y="3918496"/>
            <a:ext cx="82981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6183660"/>
            <a:ext cx="542030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1143000" y="7193310"/>
            <a:ext cx="5334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7469535"/>
            <a:ext cx="542030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8010525"/>
            <a:ext cx="54203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80150" y="6183660"/>
            <a:ext cx="542038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6680150" y="7193310"/>
            <a:ext cx="5334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0" name="Text 8"/>
          <p:cNvSpPr/>
          <p:nvPr/>
        </p:nvSpPr>
        <p:spPr>
          <a:xfrm>
            <a:off x="6680150" y="7469535"/>
            <a:ext cx="542038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680150" y="8010525"/>
            <a:ext cx="542038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17375" y="6183660"/>
            <a:ext cx="542030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13" name="Shape 11"/>
          <p:cNvSpPr/>
          <p:nvPr/>
        </p:nvSpPr>
        <p:spPr>
          <a:xfrm>
            <a:off x="12217375" y="7193310"/>
            <a:ext cx="5334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217375" y="7469535"/>
            <a:ext cx="542030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1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217375" y="8010525"/>
            <a:ext cx="54203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505852" cy="10287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374282"/>
            <a:ext cx="9356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5041032"/>
            <a:ext cx="9356162" cy="909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0"/>
              </a:lnSpc>
              <a:buNone/>
            </a:pPr>
            <a:r>
              <a:rPr lang="en-US" sz="6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0505852" y="0"/>
            <a:ext cx="7782148" cy="102870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6" name="Text 4"/>
          <p:cNvSpPr/>
          <p:nvPr/>
        </p:nvSpPr>
        <p:spPr>
          <a:xfrm>
            <a:off x="11363102" y="4717256"/>
            <a:ext cx="667441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363102" y="5541169"/>
            <a:ext cx="762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8" name="Text 6"/>
          <p:cNvSpPr/>
          <p:nvPr/>
        </p:nvSpPr>
        <p:spPr>
          <a:xfrm>
            <a:off x="1060698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287000" y="4148584"/>
            <a:ext cx="7543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87000" y="4701034"/>
            <a:ext cx="7543800" cy="704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8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10287000" y="5710238"/>
            <a:ext cx="7543800" cy="466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79"/>
              </a:lnSpc>
              <a:buNone/>
            </a:pPr>
            <a:r>
              <a:rPr lang="en-US" sz="21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060698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88660"/>
            <a:ext cx="18288000" cy="2198340"/>
          </a:xfrm>
          <a:prstGeom prst="rect">
            <a:avLst/>
          </a:prstGeom>
          <a:gradFill rotWithShape="1">
            <a:gsLst>
              <a:gs pos="0">
                <a:srgbClr val="000000">
                  <a:alpha val="7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57250" y="869826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7250" y="9174510"/>
            <a:ext cx="1257300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81"/>
              </a:lnSpc>
              <a:buNone/>
            </a:pPr>
            <a:r>
              <a:rPr lang="en-US" sz="360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body copy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0000">
                  <a:alpha val="78000"/>
                </a:srgbClr>
              </a:gs>
              <a:gs pos="45000">
                <a:srgbClr val="000000">
                  <a:alpha val="45000"/>
                </a:srgbClr>
              </a:gs>
              <a:gs pos="78000">
                <a:srgbClr val="000000">
                  <a:alpha val="0"/>
                </a:srgbClr>
              </a:gs>
            </a:gsLst>
            <a:lin ang="9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4369147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4997797"/>
            <a:ext cx="12049125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0"/>
              </a:lnSpc>
              <a:buNone/>
            </a:pPr>
            <a:r>
              <a:rPr lang="en-US" sz="690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6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507903"/>
            <a:ext cx="5079950" cy="6293197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8953500"/>
            <a:ext cx="5587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03950" y="2507903"/>
            <a:ext cx="5080025" cy="6293197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7" name="Text 5"/>
          <p:cNvSpPr/>
          <p:nvPr/>
        </p:nvSpPr>
        <p:spPr>
          <a:xfrm>
            <a:off x="6603950" y="8953500"/>
            <a:ext cx="55880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064975" y="2507903"/>
            <a:ext cx="5079950" cy="6293197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7"/>
          <p:cNvSpPr/>
          <p:nvPr/>
        </p:nvSpPr>
        <p:spPr>
          <a:xfrm>
            <a:off x="12064975" y="8953500"/>
            <a:ext cx="5587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507903"/>
            <a:ext cx="8973741" cy="6788497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5" name="Shape 3"/>
          <p:cNvSpPr/>
          <p:nvPr/>
        </p:nvSpPr>
        <p:spPr>
          <a:xfrm>
            <a:off x="10497741" y="2507903"/>
            <a:ext cx="6647259" cy="3203749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6" name="Shape 4"/>
          <p:cNvSpPr/>
          <p:nvPr/>
        </p:nvSpPr>
        <p:spPr>
          <a:xfrm>
            <a:off x="10497741" y="6092651"/>
            <a:ext cx="6647259" cy="3203749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2870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0515600" cy="102870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4" name="Text 2"/>
          <p:cNvSpPr/>
          <p:nvPr/>
        </p:nvSpPr>
        <p:spPr>
          <a:xfrm>
            <a:off x="8724900" y="3965079"/>
            <a:ext cx="9471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24900" y="4612779"/>
            <a:ext cx="9471660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25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quotation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8724900" y="5969496"/>
            <a:ext cx="495300" cy="1905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0" y="5636121"/>
            <a:ext cx="1989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29750" y="5979021"/>
            <a:ext cx="1989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08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0698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3" name="Text 1"/>
          <p:cNvSpPr/>
          <p:nvPr/>
        </p:nvSpPr>
        <p:spPr>
          <a:xfrm>
            <a:off x="10096500" y="4168229"/>
            <a:ext cx="7753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96500" y="4720679"/>
            <a:ext cx="7753350" cy="684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72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096500" y="5690667"/>
            <a:ext cx="7753350" cy="466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79"/>
              </a:lnSpc>
              <a:buNone/>
            </a:pPr>
            <a:r>
              <a:rPr lang="en-US" sz="21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060698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00" cy="102870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3" name="Text 1"/>
          <p:cNvSpPr/>
          <p:nvPr/>
        </p:nvSpPr>
        <p:spPr>
          <a:xfrm>
            <a:off x="9639300" y="3550741"/>
            <a:ext cx="82561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39300" y="4141291"/>
            <a:ext cx="825618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79"/>
              </a:lnSpc>
              <a:buNone/>
            </a:pPr>
            <a:r>
              <a:rPr lang="en-US" sz="112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9639300" y="5636716"/>
            <a:ext cx="8256188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46"/>
              </a:lnSpc>
              <a:buNone/>
            </a:pPr>
            <a:r>
              <a:rPr lang="en-US" sz="34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639300" y="6364784"/>
            <a:ext cx="82561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60698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20907" cy="102870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3" name="Text 1"/>
          <p:cNvSpPr/>
          <p:nvPr/>
        </p:nvSpPr>
        <p:spPr>
          <a:xfrm>
            <a:off x="9873407" y="2549872"/>
            <a:ext cx="79987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873407" y="3102322"/>
            <a:ext cx="7998753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29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873407" y="5260628"/>
            <a:ext cx="7271593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6" name="Text 4"/>
          <p:cNvSpPr/>
          <p:nvPr/>
        </p:nvSpPr>
        <p:spPr>
          <a:xfrm>
            <a:off x="9873407" y="4241453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98075" y="4241453"/>
            <a:ext cx="17815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198075" y="4708178"/>
            <a:ext cx="17815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73407" y="6498878"/>
            <a:ext cx="7271593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0" name="Text 8"/>
          <p:cNvSpPr/>
          <p:nvPr/>
        </p:nvSpPr>
        <p:spPr>
          <a:xfrm>
            <a:off x="9873407" y="5479703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98075" y="5479703"/>
            <a:ext cx="17815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198075" y="5946428"/>
            <a:ext cx="17815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3407" y="6717953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198075" y="6717953"/>
            <a:ext cx="17815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198075" y="7184678"/>
            <a:ext cx="17815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0698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960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72200"/>
            <a:ext cx="9144000" cy="6096000"/>
          </a:xfrm>
          <a:prstGeom prst="rect">
            <a:avLst/>
          </a:prstGeom>
          <a:solidFill>
            <a:srgbClr val="B5B5B5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0" y="5195888"/>
            <a:ext cx="7753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96500" y="5748338"/>
            <a:ext cx="775335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29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096500" y="6658868"/>
            <a:ext cx="775335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60698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9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297385"/>
            <a:ext cx="12573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078435"/>
            <a:ext cx="5105400" cy="574171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8953500"/>
            <a:ext cx="56159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91300" y="3078435"/>
            <a:ext cx="5105400" cy="574171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8" name="Text 6"/>
          <p:cNvSpPr/>
          <p:nvPr/>
        </p:nvSpPr>
        <p:spPr>
          <a:xfrm>
            <a:off x="6591300" y="8953500"/>
            <a:ext cx="56159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039600" y="3078435"/>
            <a:ext cx="5105400" cy="574171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0" name="Text 8"/>
          <p:cNvSpPr/>
          <p:nvPr/>
        </p:nvSpPr>
        <p:spPr>
          <a:xfrm>
            <a:off x="12039600" y="8953500"/>
            <a:ext cx="56159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811265"/>
            <a:ext cx="88010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363715"/>
            <a:ext cx="8801018" cy="684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72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5314652"/>
            <a:ext cx="8801018" cy="466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79"/>
              </a:lnSpc>
              <a:buNone/>
            </a:pPr>
            <a:r>
              <a:rPr lang="en-US" sz="21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1143000" y="5971356"/>
            <a:ext cx="8801018" cy="466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79"/>
              </a:lnSpc>
              <a:buNone/>
            </a:pPr>
            <a:r>
              <a:rPr lang="en-US" sz="21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05926" y="2057400"/>
            <a:ext cx="7239000" cy="60960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79540"/>
            <a:ext cx="673907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731990"/>
            <a:ext cx="673907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5617815"/>
            <a:ext cx="673907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955235" y="1962150"/>
            <a:ext cx="4543425" cy="302895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6" name="Shape 4"/>
          <p:cNvSpPr/>
          <p:nvPr/>
        </p:nvSpPr>
        <p:spPr>
          <a:xfrm>
            <a:off x="12727260" y="1962150"/>
            <a:ext cx="4543425" cy="302895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35" y="5219700"/>
            <a:ext cx="4543425" cy="302895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8" name="Shape 6"/>
          <p:cNvSpPr/>
          <p:nvPr/>
        </p:nvSpPr>
        <p:spPr>
          <a:xfrm>
            <a:off x="12727260" y="5219700"/>
            <a:ext cx="4543425" cy="302895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490814"/>
            <a:ext cx="7124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5043264"/>
            <a:ext cx="7124700" cy="790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07"/>
              </a:lnSpc>
              <a:buNone/>
            </a:pPr>
            <a:r>
              <a:rPr lang="en-US" sz="57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8382000" y="3795713"/>
            <a:ext cx="8763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5" name="Text 3"/>
          <p:cNvSpPr/>
          <p:nvPr/>
        </p:nvSpPr>
        <p:spPr>
          <a:xfrm>
            <a:off x="8382000" y="2709863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44769" y="2709863"/>
            <a:ext cx="19001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744769" y="3205163"/>
            <a:ext cx="19001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5138738"/>
            <a:ext cx="8763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0" y="4052888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44769" y="4052888"/>
            <a:ext cx="19001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44769" y="4548188"/>
            <a:ext cx="19001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6481763"/>
            <a:ext cx="8763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5395913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44769" y="5395913"/>
            <a:ext cx="19001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44769" y="5891213"/>
            <a:ext cx="19001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2000" y="6738938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44769" y="6738938"/>
            <a:ext cx="19001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44769" y="7234238"/>
            <a:ext cx="19001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29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69787" y="2993898"/>
            <a:ext cx="7311494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15"/>
              </a:lnSpc>
              <a:buNone/>
            </a:pPr>
            <a:r>
              <a:rPr lang="en-US" sz="40000" spc="-930" kern="0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0" y="1047750"/>
            <a:ext cx="57150" cy="8191500"/>
          </a:xfrm>
          <a:prstGeom prst="rect">
            <a:avLst/>
          </a:prstGeom>
          <a:solidFill>
            <a:srgbClr val="FAA51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382839"/>
            <a:ext cx="10410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5068639"/>
            <a:ext cx="10410460" cy="873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0"/>
              </a:lnSpc>
              <a:buNone/>
            </a:pPr>
            <a:r>
              <a:rPr lang="en-US" sz="6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Data, tables &amp; </a:t>
            </a:r>
            <a:pPr algn="l" indent="0" marL="0">
              <a:lnSpc>
                <a:spcPct val="89510"/>
              </a:lnSpc>
              <a:buNone/>
            </a:pPr>
            <a:r>
              <a:rPr lang="en-US" sz="6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</a:t>
            </a:r>
            <a:endParaRPr lang="en-US" sz="6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220200"/>
            <a:ext cx="248156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3217515"/>
            <a:ext cx="16002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679353"/>
            <a:ext cx="400088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87752" y="2679353"/>
            <a:ext cx="387563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STEADY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20411" y="2679353"/>
            <a:ext cx="400088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74663" y="2679353"/>
            <a:ext cx="308066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OVERHAUL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246090"/>
            <a:ext cx="16002000" cy="847725"/>
          </a:xfrm>
          <a:prstGeom prst="rect">
            <a:avLst/>
          </a:prstGeom>
          <a:solidFill>
            <a:srgbClr val="F8F2EC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3455640"/>
            <a:ext cx="40008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5587752" y="3455640"/>
            <a:ext cx="387563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720411" y="3455640"/>
            <a:ext cx="40008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3974663" y="3455640"/>
            <a:ext cx="308066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333500" y="4303365"/>
            <a:ext cx="4000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impact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5587752" y="4303365"/>
            <a:ext cx="387563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720411" y="4303365"/>
            <a:ext cx="4000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3974663" y="4303365"/>
            <a:ext cx="308066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143000" y="4927253"/>
            <a:ext cx="16002000" cy="833438"/>
          </a:xfrm>
          <a:prstGeom prst="rect">
            <a:avLst/>
          </a:prstGeom>
          <a:solidFill>
            <a:srgbClr val="F8F2EC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5136803"/>
            <a:ext cx="4000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5587752" y="5136803"/>
            <a:ext cx="387563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Drifting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720411" y="5136803"/>
            <a:ext cx="4000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target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13974663" y="5136803"/>
            <a:ext cx="308066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target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333500" y="5970240"/>
            <a:ext cx="4000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5587752" y="5970240"/>
            <a:ext cx="387563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9720411" y="5970240"/>
            <a:ext cx="4000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quarters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3974663" y="5970240"/>
            <a:ext cx="308066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quarters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1143000" y="6594128"/>
            <a:ext cx="16002000" cy="833438"/>
          </a:xfrm>
          <a:prstGeom prst="rect">
            <a:avLst/>
          </a:prstGeom>
          <a:solidFill>
            <a:srgbClr val="F8F2EC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" y="6803678"/>
            <a:ext cx="4000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5587752" y="6803678"/>
            <a:ext cx="387563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advised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9720411" y="6803678"/>
            <a:ext cx="4000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3974663" y="6803678"/>
            <a:ext cx="308066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3103215"/>
            <a:ext cx="16002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2603153"/>
            <a:ext cx="392324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CLASS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76918" y="2603153"/>
            <a:ext cx="238379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11876" y="2603153"/>
            <a:ext cx="280688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085463" y="2603153"/>
            <a:ext cx="18660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73784" y="2603153"/>
            <a:ext cx="379976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909"/>
              </a:lnSpc>
              <a:buNone/>
            </a:pPr>
            <a:r>
              <a:rPr lang="en-US" sz="1800" b="1" spc="180" kern="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1-YR RETURN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3131790"/>
            <a:ext cx="16002000" cy="742950"/>
          </a:xfrm>
          <a:prstGeom prst="rect">
            <a:avLst/>
          </a:prstGeom>
          <a:solidFill>
            <a:srgbClr val="F8F2EC"/>
          </a:solidFill>
          <a:ln/>
        </p:spPr>
      </p:sp>
      <p:sp>
        <p:nvSpPr>
          <p:cNvPr id="11" name="Text 9"/>
          <p:cNvSpPr/>
          <p:nvPr/>
        </p:nvSpPr>
        <p:spPr>
          <a:xfrm>
            <a:off x="1314450" y="3303240"/>
            <a:ext cx="39232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equity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5376918" y="3303240"/>
            <a:ext cx="238379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8011876" y="3303240"/>
            <a:ext cx="280688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1085463" y="3303240"/>
            <a:ext cx="18660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+6pp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3173784" y="3303240"/>
            <a:ext cx="379976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+18.4%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314450" y="4046190"/>
            <a:ext cx="392324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5376918" y="4046190"/>
            <a:ext cx="238379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8011876" y="4046190"/>
            <a:ext cx="280688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085463" y="4046190"/>
            <a:ext cx="18660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−2pp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173784" y="4046190"/>
            <a:ext cx="37997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+9.1%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143000" y="4603403"/>
            <a:ext cx="16002000" cy="728663"/>
          </a:xfrm>
          <a:prstGeom prst="rect">
            <a:avLst/>
          </a:prstGeom>
          <a:solidFill>
            <a:srgbClr val="F8F2EC"/>
          </a:solidFill>
          <a:ln/>
        </p:spPr>
      </p:sp>
      <p:sp>
        <p:nvSpPr>
          <p:cNvPr id="22" name="Text 20"/>
          <p:cNvSpPr/>
          <p:nvPr/>
        </p:nvSpPr>
        <p:spPr>
          <a:xfrm>
            <a:off x="1314450" y="4774853"/>
            <a:ext cx="392324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5376918" y="4774853"/>
            <a:ext cx="238379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8011876" y="4774853"/>
            <a:ext cx="280688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1085463" y="4774853"/>
            <a:ext cx="18660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−4pp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13173784" y="4774853"/>
            <a:ext cx="37997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+4.6%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314450" y="5503515"/>
            <a:ext cx="392324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5376918" y="5503515"/>
            <a:ext cx="238379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8011876" y="5503515"/>
            <a:ext cx="280688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1085463" y="5503515"/>
            <a:ext cx="18660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3173784" y="5503515"/>
            <a:ext cx="37997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+6.2%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143000" y="6060728"/>
            <a:ext cx="16002000" cy="738188"/>
          </a:xfrm>
          <a:prstGeom prst="rect">
            <a:avLst/>
          </a:prstGeom>
          <a:solidFill>
            <a:srgbClr val="F8F2EC"/>
          </a:solidFill>
          <a:ln/>
        </p:spPr>
      </p:sp>
      <p:sp>
        <p:nvSpPr>
          <p:cNvPr id="33" name="Text 31"/>
          <p:cNvSpPr/>
          <p:nvPr/>
        </p:nvSpPr>
        <p:spPr>
          <a:xfrm>
            <a:off x="1314450" y="6232178"/>
            <a:ext cx="3923243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5376918" y="6232178"/>
            <a:ext cx="2383799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8011876" y="6232178"/>
            <a:ext cx="2806887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1085463" y="6232178"/>
            <a:ext cx="1866081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3173784" y="6232178"/>
            <a:ext cx="379976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+5.0%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1143000" y="6798915"/>
            <a:ext cx="16002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1314450" y="6970365"/>
            <a:ext cx="3923243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5376918" y="6970365"/>
            <a:ext cx="2383799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8011876" y="6970365"/>
            <a:ext cx="2806887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11085463" y="6970365"/>
            <a:ext cx="1866081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13173784" y="6970365"/>
            <a:ext cx="3799766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+12.7%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1143000" y="7803803"/>
            <a:ext cx="176022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6516067"/>
            <a:ext cx="4023360" cy="10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00"/>
              </a:lnSpc>
              <a:buNone/>
            </a:pPr>
            <a:r>
              <a:rPr lang="en-US" sz="82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$146B</a:t>
            </a:r>
            <a:endParaRPr lang="en-US" sz="8250" dirty="0"/>
          </a:p>
        </p:txBody>
      </p:sp>
      <p:sp>
        <p:nvSpPr>
          <p:cNvPr id="5" name="Shape 3"/>
          <p:cNvSpPr/>
          <p:nvPr/>
        </p:nvSpPr>
        <p:spPr>
          <a:xfrm>
            <a:off x="1143000" y="7759080"/>
            <a:ext cx="4572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8035305"/>
            <a:ext cx="402336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257800" y="6516067"/>
            <a:ext cx="4023360" cy="10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00"/>
              </a:lnSpc>
              <a:buNone/>
            </a:pPr>
            <a:r>
              <a:rPr lang="en-US" sz="82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8250" dirty="0"/>
          </a:p>
        </p:txBody>
      </p:sp>
      <p:sp>
        <p:nvSpPr>
          <p:cNvPr id="8" name="Shape 6"/>
          <p:cNvSpPr/>
          <p:nvPr/>
        </p:nvSpPr>
        <p:spPr>
          <a:xfrm>
            <a:off x="5257800" y="7759080"/>
            <a:ext cx="4572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8035305"/>
            <a:ext cx="402336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72600" y="6516067"/>
            <a:ext cx="4023360" cy="10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00"/>
              </a:lnSpc>
              <a:buNone/>
            </a:pPr>
            <a:r>
              <a:rPr lang="en-US" sz="82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1,080</a:t>
            </a:r>
            <a:endParaRPr lang="en-US" sz="8250" dirty="0"/>
          </a:p>
        </p:txBody>
      </p:sp>
      <p:sp>
        <p:nvSpPr>
          <p:cNvPr id="11" name="Shape 9"/>
          <p:cNvSpPr/>
          <p:nvPr/>
        </p:nvSpPr>
        <p:spPr>
          <a:xfrm>
            <a:off x="9372600" y="7759080"/>
            <a:ext cx="4572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9372600" y="8035305"/>
            <a:ext cx="402336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487400" y="6516067"/>
            <a:ext cx="4023360" cy="10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00"/>
              </a:lnSpc>
              <a:buNone/>
            </a:pPr>
            <a:r>
              <a:rPr lang="en-US" sz="825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38K</a:t>
            </a:r>
            <a:endParaRPr lang="en-US" sz="8250" dirty="0"/>
          </a:p>
        </p:txBody>
      </p:sp>
      <p:sp>
        <p:nvSpPr>
          <p:cNvPr id="14" name="Shape 12"/>
          <p:cNvSpPr/>
          <p:nvPr/>
        </p:nvSpPr>
        <p:spPr>
          <a:xfrm>
            <a:off x="13487400" y="7759080"/>
            <a:ext cx="4572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5" name="Text 13"/>
          <p:cNvSpPr/>
          <p:nvPr/>
        </p:nvSpPr>
        <p:spPr>
          <a:xfrm>
            <a:off x="13487400" y="8035305"/>
            <a:ext cx="402336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99445"/>
            <a:ext cx="9778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870945"/>
            <a:ext cx="9778945" cy="238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141"/>
              </a:lnSpc>
              <a:buNone/>
            </a:pPr>
            <a:r>
              <a:rPr lang="en-US" sz="22500" spc="-450" kern="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1143000" y="6442695"/>
            <a:ext cx="9778945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49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in assets, </a:t>
            </a:r>
            <a:pPr algn="l" indent="0" marL="0">
              <a:lnSpc>
                <a:spcPct val="96949"/>
              </a:lnSpc>
              <a:buNone/>
            </a:pPr>
            <a:r>
              <a:rPr lang="en-US" sz="39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over year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794950" y="4774406"/>
            <a:ext cx="762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10794950" y="5069681"/>
            <a:ext cx="698497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303365"/>
            <a:ext cx="7184529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137520"/>
            <a:ext cx="1168747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502247" y="3599483"/>
            <a:ext cx="146218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1143000" y="5897835"/>
            <a:ext cx="7184529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731990"/>
            <a:ext cx="1991052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19748" y="5193953"/>
            <a:ext cx="146218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" y="6326460"/>
            <a:ext cx="979884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66"/>
              </a:lnSpc>
              <a:buNone/>
            </a:pPr>
            <a:r>
              <a:rPr lang="en-US" sz="72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313384" y="6788423"/>
            <a:ext cx="146218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241929" y="4190033"/>
            <a:ext cx="86933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41929" y="4742483"/>
            <a:ext cx="8693378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94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241929" y="5683523"/>
            <a:ext cx="869337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91876" y="2993898"/>
            <a:ext cx="7397197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15"/>
              </a:lnSpc>
              <a:buNone/>
            </a:pPr>
            <a:r>
              <a:rPr lang="en-US" sz="40000" spc="-930" kern="0" dirty="0">
                <a:solidFill>
                  <a:srgbClr val="FAA51A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0" y="1047750"/>
            <a:ext cx="57150" cy="81915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382839"/>
            <a:ext cx="10410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5068639"/>
            <a:ext cx="10410460" cy="873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0"/>
              </a:lnSpc>
              <a:buNone/>
            </a:pPr>
            <a:r>
              <a:rPr lang="en-US" sz="645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Charts &amp; </a:t>
            </a:r>
            <a:pPr algn="l" indent="0" marL="0">
              <a:lnSpc>
                <a:spcPct val="89510"/>
              </a:lnSpc>
              <a:buNone/>
            </a:pPr>
            <a:r>
              <a:rPr lang="en-US" sz="6450" i="1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6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220200"/>
            <a:ext cx="248156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50256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502568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5175409" y="1736378"/>
            <a:ext cx="209550" cy="209550"/>
          </a:xfrm>
          <a:prstGeom prst="rect">
            <a:avLst/>
          </a:prstGeom>
          <a:solidFill>
            <a:srgbClr val="2294BD"/>
          </a:solidFill>
          <a:ln/>
        </p:spPr>
      </p:sp>
      <p:sp>
        <p:nvSpPr>
          <p:cNvPr id="5" name="Text 3"/>
          <p:cNvSpPr/>
          <p:nvPr/>
        </p:nvSpPr>
        <p:spPr>
          <a:xfrm>
            <a:off x="15499259" y="1712565"/>
            <a:ext cx="58474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312604" y="1736378"/>
            <a:ext cx="209550" cy="209550"/>
          </a:xfrm>
          <a:prstGeom prst="rect">
            <a:avLst/>
          </a:prstGeom>
          <a:solidFill>
            <a:srgbClr val="8FC6DB"/>
          </a:solidFill>
          <a:ln/>
        </p:spPr>
      </p:sp>
      <p:sp>
        <p:nvSpPr>
          <p:cNvPr id="7" name="Text 5"/>
          <p:cNvSpPr/>
          <p:nvPr/>
        </p:nvSpPr>
        <p:spPr>
          <a:xfrm>
            <a:off x="16636454" y="1712565"/>
            <a:ext cx="58474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07903"/>
            <a:ext cx="16002000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50256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502568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3225760" y="1736378"/>
            <a:ext cx="20955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13549610" y="1712565"/>
            <a:ext cx="559073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337283" y="1736378"/>
            <a:ext cx="209550" cy="209550"/>
          </a:xfrm>
          <a:prstGeom prst="rect">
            <a:avLst/>
          </a:prstGeom>
          <a:solidFill>
            <a:srgbClr val="2294BD"/>
          </a:solidFill>
          <a:ln/>
        </p:spPr>
      </p:sp>
      <p:sp>
        <p:nvSpPr>
          <p:cNvPr id="7" name="Text 5"/>
          <p:cNvSpPr/>
          <p:nvPr/>
        </p:nvSpPr>
        <p:spPr>
          <a:xfrm>
            <a:off x="14661133" y="1712565"/>
            <a:ext cx="953021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842754" y="1736378"/>
            <a:ext cx="209550" cy="20955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9" name="Text 7"/>
          <p:cNvSpPr/>
          <p:nvPr/>
        </p:nvSpPr>
        <p:spPr>
          <a:xfrm>
            <a:off x="16166604" y="1712565"/>
            <a:ext cx="105459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07903"/>
            <a:ext cx="16002000" cy="6858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50256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502568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4705707" y="1745903"/>
            <a:ext cx="190500" cy="190500"/>
          </a:xfrm>
          <a:prstGeom prst="ellipse">
            <a:avLst/>
          </a:prstGeom>
          <a:solidFill>
            <a:srgbClr val="2294BD"/>
          </a:solidFill>
          <a:ln/>
        </p:spPr>
      </p:sp>
      <p:sp>
        <p:nvSpPr>
          <p:cNvPr id="5" name="Text 3"/>
          <p:cNvSpPr/>
          <p:nvPr/>
        </p:nvSpPr>
        <p:spPr>
          <a:xfrm>
            <a:off x="15010507" y="1712565"/>
            <a:ext cx="96574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204853" y="1745903"/>
            <a:ext cx="190500" cy="1905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7" name="Text 5"/>
          <p:cNvSpPr/>
          <p:nvPr/>
        </p:nvSpPr>
        <p:spPr>
          <a:xfrm>
            <a:off x="16509653" y="1712565"/>
            <a:ext cx="711547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07903"/>
            <a:ext cx="16002000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0058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00584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1725"/>
            <a:ext cx="9144000" cy="70008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049000" y="3114675"/>
            <a:ext cx="6096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0" y="3371850"/>
            <a:ext cx="6705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049000" y="3867150"/>
            <a:ext cx="6705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1049000" y="4581525"/>
            <a:ext cx="6096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9" name="Text 6"/>
          <p:cNvSpPr/>
          <p:nvPr/>
        </p:nvSpPr>
        <p:spPr>
          <a:xfrm>
            <a:off x="11049000" y="4838700"/>
            <a:ext cx="6705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049000" y="5334000"/>
            <a:ext cx="6705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049000" y="6048375"/>
            <a:ext cx="6096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2" name="Text 9"/>
          <p:cNvSpPr/>
          <p:nvPr/>
        </p:nvSpPr>
        <p:spPr>
          <a:xfrm>
            <a:off x="11049000" y="6305550"/>
            <a:ext cx="6705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049000" y="6800850"/>
            <a:ext cx="6705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507903"/>
            <a:ext cx="84239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69878"/>
            <a:ext cx="7658100" cy="62960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86900" y="2507903"/>
            <a:ext cx="84239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3069878"/>
            <a:ext cx="7658100" cy="6296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98278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9827895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31703"/>
            <a:ext cx="893445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763250" y="4751040"/>
            <a:ext cx="7620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6" name="Text 3"/>
          <p:cNvSpPr/>
          <p:nvPr/>
        </p:nvSpPr>
        <p:spPr>
          <a:xfrm>
            <a:off x="10763250" y="5046315"/>
            <a:ext cx="70199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68526"/>
            <a:ext cx="81775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082876"/>
            <a:ext cx="8177525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5047729"/>
            <a:ext cx="81775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5880199"/>
            <a:ext cx="190500" cy="190500"/>
          </a:xfrm>
          <a:prstGeom prst="rect">
            <a:avLst/>
          </a:prstGeom>
          <a:solidFill>
            <a:srgbClr val="2294BD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5846862"/>
            <a:ext cx="138484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gains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80296" y="5880199"/>
            <a:ext cx="190500" cy="1905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8" name="Text 6"/>
          <p:cNvSpPr/>
          <p:nvPr/>
        </p:nvSpPr>
        <p:spPr>
          <a:xfrm>
            <a:off x="3385096" y="5846862"/>
            <a:ext cx="124502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clients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77767" y="5880199"/>
            <a:ext cx="190500" cy="190500"/>
          </a:xfrm>
          <a:prstGeom prst="rect">
            <a:avLst/>
          </a:prstGeom>
          <a:solidFill>
            <a:srgbClr val="FAA51A"/>
          </a:solidFill>
          <a:ln/>
        </p:spPr>
      </p:sp>
      <p:sp>
        <p:nvSpPr>
          <p:cNvPr id="10" name="Text 8"/>
          <p:cNvSpPr/>
          <p:nvPr/>
        </p:nvSpPr>
        <p:spPr>
          <a:xfrm>
            <a:off x="5182567" y="5846862"/>
            <a:ext cx="142316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6375499"/>
            <a:ext cx="190500" cy="190500"/>
          </a:xfrm>
          <a:prstGeom prst="rect">
            <a:avLst/>
          </a:prstGeom>
          <a:solidFill>
            <a:srgbClr val="1B7698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6342162"/>
            <a:ext cx="2020342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Reinvested income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9114" y="2438400"/>
            <a:ext cx="7800975" cy="5334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124655" y="4543425"/>
            <a:ext cx="24581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21"/>
              </a:lnSpc>
              <a:buNone/>
            </a:pPr>
            <a:r>
              <a:rPr lang="en-US" sz="60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+$18B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371636" y="5324475"/>
            <a:ext cx="19147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44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GROWTH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08197" y="2993898"/>
            <a:ext cx="7159243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15"/>
              </a:lnSpc>
              <a:buNone/>
            </a:pPr>
            <a:r>
              <a:rPr lang="en-US" sz="40000" spc="-930" kern="0" dirty="0">
                <a:solidFill>
                  <a:srgbClr val="2294BD">
                    <a:alpha val="1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0" y="1047750"/>
            <a:ext cx="57150" cy="81915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965079"/>
            <a:ext cx="10410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4650879"/>
            <a:ext cx="9747977" cy="170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0"/>
              </a:lnSpc>
              <a:buNone/>
            </a:pPr>
            <a:r>
              <a:rPr lang="en-US" sz="64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Process, timeline &amp; </a:t>
            </a:r>
            <a:pPr algn="l" indent="0" marL="0">
              <a:lnSpc>
                <a:spcPct val="89510"/>
              </a:lnSpc>
              <a:buNone/>
            </a:pPr>
            <a:r>
              <a:rPr lang="en-US" sz="645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frameworks</a:t>
            </a:r>
            <a:endParaRPr lang="en-US" sz="6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220200"/>
            <a:ext cx="248156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2103090" y="6945660"/>
            <a:ext cx="14081820" cy="19050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5" name="Shape 3"/>
          <p:cNvSpPr/>
          <p:nvPr/>
        </p:nvSpPr>
        <p:spPr>
          <a:xfrm>
            <a:off x="2628900" y="6602760"/>
            <a:ext cx="685800" cy="685800"/>
          </a:xfrm>
          <a:prstGeom prst="ellipse">
            <a:avLst/>
          </a:prstGeom>
          <a:solidFill>
            <a:srgbClr val="2294BD"/>
          </a:solidFill>
          <a:ln/>
        </p:spPr>
      </p:sp>
      <p:sp>
        <p:nvSpPr>
          <p:cNvPr id="6" name="Text 4"/>
          <p:cNvSpPr/>
          <p:nvPr/>
        </p:nvSpPr>
        <p:spPr>
          <a:xfrm>
            <a:off x="2590800" y="660276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60120" y="7593360"/>
            <a:ext cx="40233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0120" y="8050560"/>
            <a:ext cx="40233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43700" y="6602760"/>
            <a:ext cx="685800" cy="685800"/>
          </a:xfrm>
          <a:prstGeom prst="ellipse">
            <a:avLst/>
          </a:prstGeom>
          <a:solidFill>
            <a:srgbClr val="2294BD"/>
          </a:solidFill>
          <a:ln/>
        </p:spPr>
      </p:sp>
      <p:sp>
        <p:nvSpPr>
          <p:cNvPr id="10" name="Text 8"/>
          <p:cNvSpPr/>
          <p:nvPr/>
        </p:nvSpPr>
        <p:spPr>
          <a:xfrm>
            <a:off x="6705600" y="660276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074920" y="7593360"/>
            <a:ext cx="40233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074920" y="8050560"/>
            <a:ext cx="40233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858500" y="6602760"/>
            <a:ext cx="685800" cy="685800"/>
          </a:xfrm>
          <a:prstGeom prst="ellipse">
            <a:avLst/>
          </a:prstGeom>
          <a:solidFill>
            <a:srgbClr val="2294BD"/>
          </a:solidFill>
          <a:ln/>
        </p:spPr>
      </p:sp>
      <p:sp>
        <p:nvSpPr>
          <p:cNvPr id="14" name="Text 12"/>
          <p:cNvSpPr/>
          <p:nvPr/>
        </p:nvSpPr>
        <p:spPr>
          <a:xfrm>
            <a:off x="10820400" y="660276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89720" y="7593360"/>
            <a:ext cx="40233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89720" y="8050560"/>
            <a:ext cx="40233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973300" y="6602760"/>
            <a:ext cx="685800" cy="6858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14935200" y="660276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304520" y="7593360"/>
            <a:ext cx="40233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304520" y="8050560"/>
            <a:ext cx="40233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510683"/>
            <a:ext cx="7124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5063133"/>
            <a:ext cx="712470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17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382000" y="3774281"/>
            <a:ext cx="8763000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5" name="Text 3"/>
          <p:cNvSpPr/>
          <p:nvPr/>
        </p:nvSpPr>
        <p:spPr>
          <a:xfrm>
            <a:off x="8382000" y="2667000"/>
            <a:ext cx="742950" cy="897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353550" y="2667000"/>
            <a:ext cx="19001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53550" y="3181350"/>
            <a:ext cx="190019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8382000" y="5138738"/>
            <a:ext cx="8763000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0" y="4031456"/>
            <a:ext cx="742950" cy="897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353550" y="4031456"/>
            <a:ext cx="137844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53550" y="4545806"/>
            <a:ext cx="1378446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8382000" y="6503194"/>
            <a:ext cx="8763000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5395913"/>
            <a:ext cx="742950" cy="897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353550" y="5395913"/>
            <a:ext cx="19001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53550" y="5910263"/>
            <a:ext cx="190019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8382000" y="6760369"/>
            <a:ext cx="742950" cy="897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D9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353550" y="6760369"/>
            <a:ext cx="16587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close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53550" y="7274719"/>
            <a:ext cx="165871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7574310"/>
            <a:ext cx="16002000" cy="19050"/>
          </a:xfrm>
          <a:prstGeom prst="rect">
            <a:avLst/>
          </a:prstGeom>
          <a:solidFill>
            <a:srgbClr val="F0E6DD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7250460"/>
            <a:ext cx="228600" cy="228600"/>
          </a:xfrm>
          <a:prstGeom prst="ellipse">
            <a:avLst/>
          </a:prstGeom>
          <a:solidFill>
            <a:srgbClr val="2294BD"/>
          </a:solidFill>
          <a:ln w="476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789816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08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837441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dirty="0">
                <a:solidFill>
                  <a:srgbClr val="F0E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8812560"/>
            <a:ext cx="396049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76850" y="7250460"/>
            <a:ext cx="228600" cy="228600"/>
          </a:xfrm>
          <a:prstGeom prst="ellipse">
            <a:avLst/>
          </a:prstGeom>
          <a:solidFill>
            <a:srgbClr val="D9532B"/>
          </a:solidFill>
          <a:ln w="476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6850" y="789816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08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· NOW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76850" y="837441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dirty="0">
                <a:solidFill>
                  <a:srgbClr val="F0E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276850" y="8812560"/>
            <a:ext cx="396049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10700" y="7250460"/>
            <a:ext cx="228600" cy="228600"/>
          </a:xfrm>
          <a:prstGeom prst="ellipse">
            <a:avLst/>
          </a:prstGeom>
          <a:solidFill>
            <a:srgbClr val="2294BD"/>
          </a:solidFill>
          <a:ln w="476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0700" y="789816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08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10700" y="837441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dirty="0">
                <a:solidFill>
                  <a:srgbClr val="F0E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410700" y="8812560"/>
            <a:ext cx="396049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544550" y="7250460"/>
            <a:ext cx="228600" cy="228600"/>
          </a:xfrm>
          <a:prstGeom prst="ellipse">
            <a:avLst/>
          </a:prstGeom>
          <a:solidFill>
            <a:srgbClr val="2294BD"/>
          </a:solidFill>
          <a:ln w="476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44550" y="789816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108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544550" y="837441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dirty="0">
                <a:solidFill>
                  <a:srgbClr val="F0E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heading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544550" y="8812560"/>
            <a:ext cx="396049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5981700"/>
            <a:ext cx="5079950" cy="24003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6438900"/>
            <a:ext cx="47497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3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524000" y="7296150"/>
            <a:ext cx="4572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7553325"/>
            <a:ext cx="47497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03950" y="5981700"/>
            <a:ext cx="5080025" cy="24003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9" name="Text 7"/>
          <p:cNvSpPr/>
          <p:nvPr/>
        </p:nvSpPr>
        <p:spPr>
          <a:xfrm>
            <a:off x="6984950" y="6438900"/>
            <a:ext cx="47498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3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6984950" y="7296150"/>
            <a:ext cx="4572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1" name="Text 9"/>
          <p:cNvSpPr/>
          <p:nvPr/>
        </p:nvSpPr>
        <p:spPr>
          <a:xfrm>
            <a:off x="6984950" y="7553325"/>
            <a:ext cx="474982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64975" y="5981700"/>
            <a:ext cx="5079950" cy="24003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5975" y="6438900"/>
            <a:ext cx="47497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3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2445975" y="7296150"/>
            <a:ext cx="457200" cy="28575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45975" y="7553325"/>
            <a:ext cx="47497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202237"/>
            <a:ext cx="58967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754687"/>
            <a:ext cx="5896704" cy="691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5713214"/>
            <a:ext cx="58967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189440" y="2190750"/>
            <a:ext cx="4882530" cy="2857500"/>
          </a:xfrm>
          <a:prstGeom prst="rect">
            <a:avLst/>
          </a:prstGeom>
          <a:solidFill>
            <a:srgbClr val="2294BD"/>
          </a:solidFill>
          <a:ln/>
        </p:spPr>
      </p:sp>
      <p:sp>
        <p:nvSpPr>
          <p:cNvPr id="6" name="Text 4"/>
          <p:cNvSpPr/>
          <p:nvPr/>
        </p:nvSpPr>
        <p:spPr>
          <a:xfrm>
            <a:off x="7532340" y="2533650"/>
            <a:ext cx="46164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44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32340" y="3951089"/>
            <a:ext cx="4322632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first Rebalance now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262470" y="2190750"/>
            <a:ext cx="4882530" cy="28575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9" name="Text 7"/>
          <p:cNvSpPr/>
          <p:nvPr/>
        </p:nvSpPr>
        <p:spPr>
          <a:xfrm>
            <a:off x="12605370" y="2533650"/>
            <a:ext cx="46164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44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05370" y="3951089"/>
            <a:ext cx="4322632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for Estate overhaul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7189440" y="5238750"/>
            <a:ext cx="4882530" cy="28575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12" name="Text 10"/>
          <p:cNvSpPr/>
          <p:nvPr/>
        </p:nvSpPr>
        <p:spPr>
          <a:xfrm>
            <a:off x="7532340" y="5581650"/>
            <a:ext cx="46164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44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32340" y="6999089"/>
            <a:ext cx="4322632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 Beneficiary check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2262470" y="5238750"/>
            <a:ext cx="4882530" cy="28575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05370" y="5581650"/>
            <a:ext cx="46164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44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05370" y="6999089"/>
            <a:ext cx="4322632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27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Defer Niche allocations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29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86146" y="2993898"/>
            <a:ext cx="7403500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15"/>
              </a:lnSpc>
              <a:buNone/>
            </a:pPr>
            <a:r>
              <a:rPr lang="en-US" sz="40000" spc="-930" kern="0" dirty="0">
                <a:solidFill>
                  <a:srgbClr val="FFFFFF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0" y="1047750"/>
            <a:ext cx="57150" cy="8191500"/>
          </a:xfrm>
          <a:prstGeom prst="rect">
            <a:avLst/>
          </a:prstGeom>
          <a:solidFill>
            <a:srgbClr val="FAA51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382839"/>
            <a:ext cx="10410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5068639"/>
            <a:ext cx="10410460" cy="873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0"/>
              </a:lnSpc>
              <a:buNone/>
            </a:pPr>
            <a:r>
              <a:rPr lang="en-US" sz="6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&amp; </a:t>
            </a:r>
            <a:pPr algn="l" indent="0" marL="0">
              <a:lnSpc>
                <a:spcPct val="89510"/>
              </a:lnSpc>
              <a:buNone/>
            </a:pPr>
            <a:r>
              <a:rPr lang="en-US" sz="6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</a:t>
            </a:r>
            <a:endParaRPr lang="en-US" sz="6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220200"/>
            <a:ext cx="248156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895475" y="4867275"/>
            <a:ext cx="2095500" cy="20955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2978" y="7210425"/>
            <a:ext cx="39604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62978" y="769620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</a:t>
            </a:r>
            <a:pPr algn="ctr" indent="0" marL="0">
              <a:lnSpc>
                <a:spcPct val="130909"/>
              </a:lnSpc>
              <a:buNone/>
            </a:pPr>
            <a:r>
              <a:rPr lang="en-US" sz="1116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2978" y="811530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29325" y="4867275"/>
            <a:ext cx="2095500" cy="20955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96827" y="7210425"/>
            <a:ext cx="39604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096827" y="769620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96827" y="811530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63175" y="4867275"/>
            <a:ext cx="2095500" cy="20955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30678" y="7210425"/>
            <a:ext cx="39604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Reed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230678" y="769620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30678" y="811530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297025" y="4867275"/>
            <a:ext cx="2095500" cy="20955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364528" y="7210425"/>
            <a:ext cx="39604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Okafor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64528" y="769620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</a:t>
            </a:r>
            <a:pPr algn="ctr" indent="0" marL="0">
              <a:lnSpc>
                <a:spcPct val="130909"/>
              </a:lnSpc>
              <a:buNone/>
            </a:pPr>
            <a:r>
              <a:rPr lang="en-US" sz="1116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64528" y="8115300"/>
            <a:ext cx="39604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4953000" y="3876675"/>
            <a:ext cx="3048000" cy="30480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71950" y="7153275"/>
            <a:ext cx="46101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769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71950" y="7696200"/>
            <a:ext cx="4610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71950" y="8115300"/>
            <a:ext cx="4610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287000" y="3876675"/>
            <a:ext cx="3048000" cy="30480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05950" y="7153275"/>
            <a:ext cx="46101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769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5950" y="7696200"/>
            <a:ext cx="4610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05950" y="8115300"/>
            <a:ext cx="4610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2343150" y="4505325"/>
            <a:ext cx="2476500" cy="24765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9160" y="7210425"/>
            <a:ext cx="53644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99160" y="7696200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9160" y="8115300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905750" y="4505325"/>
            <a:ext cx="2476500" cy="24765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1760" y="7210425"/>
            <a:ext cx="53644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461760" y="7696200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61760" y="8115300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468350" y="4505325"/>
            <a:ext cx="2476500" cy="247650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024360" y="7210425"/>
            <a:ext cx="53644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Reed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024360" y="7696200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24360" y="8115300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57300"/>
            <a:ext cx="176022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2733675" y="2276475"/>
            <a:ext cx="1695450" cy="169545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9160" y="4200525"/>
            <a:ext cx="5364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99160" y="465772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9160" y="507682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96275" y="2276475"/>
            <a:ext cx="1695450" cy="169545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1760" y="4200525"/>
            <a:ext cx="5364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61760" y="465772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61760" y="507682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858875" y="2276475"/>
            <a:ext cx="1695450" cy="169545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024360" y="4200525"/>
            <a:ext cx="5364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Reed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024360" y="465772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24360" y="507682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33675" y="5838825"/>
            <a:ext cx="1695450" cy="169545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9160" y="7762875"/>
            <a:ext cx="5364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Okafor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99160" y="822007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9160" y="863917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96275" y="5838825"/>
            <a:ext cx="1695450" cy="169545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61760" y="7762875"/>
            <a:ext cx="5364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461760" y="822007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61760" y="863917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858875" y="5838825"/>
            <a:ext cx="1695450" cy="169545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E3D4C6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024360" y="7762875"/>
            <a:ext cx="5364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 Mendes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024360" y="822007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CFP®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024360" y="8639175"/>
            <a:ext cx="5364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F0E6D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9182100" y="3390677"/>
            <a:ext cx="89687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82100" y="3943127"/>
            <a:ext cx="8968740" cy="7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29"/>
              </a:lnSpc>
              <a:buNone/>
            </a:pPr>
            <a:r>
              <a:rPr lang="en-US" sz="510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9182100" y="4927997"/>
            <a:ext cx="896874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182100" y="5821859"/>
            <a:ext cx="136952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24"/>
              </a:lnSpc>
              <a:buNone/>
            </a:pPr>
            <a:r>
              <a:rPr lang="en-US" sz="54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82100" y="6553349"/>
            <a:ext cx="13695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036722" y="5821859"/>
            <a:ext cx="1257746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24"/>
              </a:lnSpc>
              <a:buNone/>
            </a:pPr>
            <a:r>
              <a:rPr lang="en-US" sz="54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036722" y="6553349"/>
            <a:ext cx="12577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0698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5120193" y="9601200"/>
            <a:ext cx="1605707" cy="2095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8973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82964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4000" y="4515445"/>
            <a:ext cx="15192375" cy="770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50"/>
              </a:lnSpc>
              <a:buNone/>
            </a:pPr>
            <a:r>
              <a:rPr lang="en-US" sz="4650" spc="-46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quotation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524000" y="6090642"/>
            <a:ext cx="533400" cy="1905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5742980"/>
            <a:ext cx="19894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86000" y="6114455"/>
            <a:ext cx="1989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08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60969" y="2993898"/>
            <a:ext cx="6991194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15"/>
              </a:lnSpc>
              <a:buNone/>
            </a:pPr>
            <a:r>
              <a:rPr lang="en-US" sz="40000" spc="-930" kern="0" dirty="0">
                <a:solidFill>
                  <a:srgbClr val="FAA51A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0" y="1047750"/>
            <a:ext cx="57150" cy="81915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382839"/>
            <a:ext cx="10410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5068639"/>
            <a:ext cx="10410460" cy="873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0"/>
              </a:lnSpc>
              <a:buNone/>
            </a:pPr>
            <a:r>
              <a:rPr lang="en-US" sz="645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&amp; </a:t>
            </a:r>
            <a:pPr algn="l" indent="0" marL="0">
              <a:lnSpc>
                <a:spcPct val="89510"/>
              </a:lnSpc>
              <a:buNone/>
            </a:pPr>
            <a:r>
              <a:rPr lang="en-US" sz="6450" i="1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6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220200"/>
            <a:ext cx="248156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49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4531221"/>
            <a:ext cx="16002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874121"/>
            <a:ext cx="71229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98191" y="5002709"/>
            <a:ext cx="2431107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143000" y="5808464"/>
            <a:ext cx="16002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6151364"/>
            <a:ext cx="79087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2294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276773" y="6279952"/>
            <a:ext cx="2431107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143000" y="8362950"/>
            <a:ext cx="16002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7085707"/>
            <a:ext cx="16002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7428607"/>
            <a:ext cx="7867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D9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272605" y="7557195"/>
            <a:ext cx="2431107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32511"/>
            <a:ext cx="7124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684961"/>
            <a:ext cx="7124700" cy="783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23"/>
              </a:lnSpc>
              <a:buNone/>
            </a:pPr>
            <a:r>
              <a:rPr lang="en-US" sz="57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5754365"/>
            <a:ext cx="7124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82000" y="4438650"/>
            <a:ext cx="8763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0" y="3314700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63819" y="3314700"/>
            <a:ext cx="9219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763819" y="3829050"/>
            <a:ext cx="9219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5838825"/>
            <a:ext cx="8763000" cy="9525"/>
          </a:xfrm>
          <a:prstGeom prst="rect">
            <a:avLst/>
          </a:prstGeom>
          <a:solidFill>
            <a:srgbClr val="E3D4C6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4714875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819" y="4714875"/>
            <a:ext cx="9219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763819" y="5229225"/>
            <a:ext cx="9219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6115050"/>
            <a:ext cx="191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229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63819" y="6115050"/>
            <a:ext cx="9219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63819" y="6629400"/>
            <a:ext cx="9219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313411"/>
            <a:ext cx="3211488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5213524"/>
            <a:ext cx="83820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91"/>
              </a:lnSpc>
              <a:buNone/>
            </a:pPr>
            <a:r>
              <a:rPr lang="en-US" sz="57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5700" dirty="0"/>
          </a:p>
        </p:txBody>
      </p:sp>
      <p:sp>
        <p:nvSpPr>
          <p:cNvPr id="4" name="Shape 1"/>
          <p:cNvSpPr/>
          <p:nvPr/>
        </p:nvSpPr>
        <p:spPr>
          <a:xfrm>
            <a:off x="9525000" y="2952750"/>
            <a:ext cx="9525" cy="43815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5" name="Text 2"/>
          <p:cNvSpPr/>
          <p:nvPr/>
        </p:nvSpPr>
        <p:spPr>
          <a:xfrm>
            <a:off x="10220325" y="2952750"/>
            <a:ext cx="761714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Ellis, CFP</a:t>
            </a:r>
            <a:pPr algn="l" indent="0" marL="0">
              <a:lnSpc>
                <a:spcPct val="130769"/>
              </a:lnSpc>
              <a:buNone/>
            </a:pPr>
            <a:r>
              <a:rPr lang="en-US" sz="1581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®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220325" y="3514725"/>
            <a:ext cx="7617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72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220325" y="4200525"/>
            <a:ext cx="6924675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8" name="Text 5"/>
          <p:cNvSpPr/>
          <p:nvPr/>
        </p:nvSpPr>
        <p:spPr>
          <a:xfrm>
            <a:off x="10220325" y="4552950"/>
            <a:ext cx="7617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220325" y="5000625"/>
            <a:ext cx="322559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jordan.ellis@example.com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220325" y="5543550"/>
            <a:ext cx="7617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220325" y="5991225"/>
            <a:ext cx="1900014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(000) 000-0000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220325" y="6534150"/>
            <a:ext cx="7617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spc="1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220325" y="6981825"/>
            <a:ext cx="3343396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marinerwealthadvisors.com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43000" y="9572625"/>
            <a:ext cx="10585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14929693" y="9601200"/>
            <a:ext cx="1605707" cy="2095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706850" y="9563100"/>
            <a:ext cx="4381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563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24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43000" y="2277591"/>
            <a:ext cx="838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791941"/>
            <a:ext cx="838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0" y="2277591"/>
            <a:ext cx="838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0" y="2791941"/>
            <a:ext cx="838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8829675"/>
            <a:ext cx="16002000" cy="9525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9105900"/>
            <a:ext cx="12577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5366" y="9163050"/>
            <a:ext cx="2189634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690937"/>
            <a:ext cx="1143000" cy="381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262438"/>
            <a:ext cx="176022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77"/>
              </a:lnSpc>
              <a:buNone/>
            </a:pPr>
            <a:r>
              <a:rPr lang="en-US" sz="11250" spc="-169" kern="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143000" y="6110288"/>
            <a:ext cx="94297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048750"/>
            <a:ext cx="2919487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07329" y="2993898"/>
            <a:ext cx="7600198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615"/>
              </a:lnSpc>
              <a:buNone/>
            </a:pPr>
            <a:r>
              <a:rPr lang="en-US" sz="40000" spc="-930" kern="0" dirty="0">
                <a:solidFill>
                  <a:srgbClr val="2294BD">
                    <a:alpha val="1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0" y="1047750"/>
            <a:ext cx="57150" cy="81915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965079"/>
            <a:ext cx="10410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4650879"/>
            <a:ext cx="9747977" cy="170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0"/>
              </a:lnSpc>
              <a:buNone/>
            </a:pPr>
            <a:r>
              <a:rPr lang="en-US" sz="64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&amp; transition </a:t>
            </a:r>
            <a:pPr algn="l" indent="0" marL="0">
              <a:lnSpc>
                <a:spcPct val="89510"/>
              </a:lnSpc>
              <a:buNone/>
            </a:pPr>
            <a:r>
              <a:rPr lang="en-US" sz="645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treatments</a:t>
            </a:r>
            <a:endParaRPr lang="en-US" sz="6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220200"/>
            <a:ext cx="248156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2444" y="3356595"/>
            <a:ext cx="22831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D95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55947" y="4080495"/>
            <a:ext cx="8376106" cy="110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760"/>
              </a:lnSpc>
              <a:buNone/>
            </a:pPr>
            <a:r>
              <a:rPr lang="en-US" sz="82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7571560" y="5530155"/>
            <a:ext cx="31448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7220" y="6568380"/>
            <a:ext cx="2773561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0000">
                  <a:alpha val="74000"/>
                </a:srgbClr>
              </a:gs>
              <a:gs pos="55000">
                <a:srgbClr val="000000">
                  <a:alpha val="38000"/>
                </a:srgbClr>
              </a:gs>
              <a:gs pos="100000">
                <a:srgbClr val="000000">
                  <a:alpha val="5000"/>
                </a:srgbClr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861792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4528542"/>
            <a:ext cx="13620750" cy="1058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97"/>
              </a:lnSpc>
              <a:buNone/>
            </a:pPr>
            <a:r>
              <a:rPr lang="en-US" sz="780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7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4" b="-84"/>
          <a:stretch/>
        </p:blipFill>
        <p:spPr>
          <a:xfrm>
            <a:off x="1143000" y="6044133"/>
            <a:ext cx="29146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0096500" y="3651126"/>
            <a:ext cx="7962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96500" y="4241676"/>
            <a:ext cx="7962900" cy="870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76"/>
              </a:lnSpc>
              <a:buNone/>
            </a:pPr>
            <a:r>
              <a:rPr lang="en-US" sz="630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0096500" y="5397624"/>
            <a:ext cx="7962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F0E6D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 body copy</a:t>
            </a:r>
            <a:endParaRPr lang="en-US" sz="2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-50" t="0" b="0"/>
          <a:stretch/>
        </p:blipFill>
        <p:spPr>
          <a:xfrm>
            <a:off x="10096500" y="6292974"/>
            <a:ext cx="2628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095378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724028"/>
            <a:ext cx="17602200" cy="1048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9"/>
              </a:lnSpc>
              <a:buNone/>
            </a:pPr>
            <a:r>
              <a:rPr lang="en-US" sz="780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1143000" y="6153522"/>
            <a:ext cx="1143000" cy="38100"/>
          </a:xfrm>
          <a:prstGeom prst="rect">
            <a:avLst/>
          </a:prstGeom>
          <a:solidFill>
            <a:srgbClr val="D9532B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0000">
                  <a:alpha val="72000"/>
                </a:srgbClr>
              </a:gs>
              <a:gs pos="60000">
                <a:srgbClr val="000000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823522"/>
            <a:ext cx="67008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b="1" spc="252" kern="0" dirty="0">
                <a:solidFill>
                  <a:srgbClr val="FA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8375972"/>
            <a:ext cx="6700852" cy="90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40"/>
              </a:lnSpc>
              <a:buNone/>
            </a:pPr>
            <a:r>
              <a:rPr lang="en-US" sz="6600" dirty="0">
                <a:solidFill>
                  <a:srgbClr val="F0E6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title</a:t>
            </a:r>
            <a:endParaRPr lang="en-US" sz="6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0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67750" y="4479801"/>
            <a:ext cx="952500" cy="38100"/>
          </a:xfrm>
          <a:prstGeom prst="rect">
            <a:avLst/>
          </a:prstGeom>
          <a:solidFill>
            <a:srgbClr val="D9532B"/>
          </a:solidFill>
          <a:ln/>
        </p:spPr>
      </p:sp>
      <p:sp>
        <p:nvSpPr>
          <p:cNvPr id="3" name="Text 1"/>
          <p:cNvSpPr/>
          <p:nvPr/>
        </p:nvSpPr>
        <p:spPr>
          <a:xfrm>
            <a:off x="5066701" y="4975101"/>
            <a:ext cx="8154524" cy="870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712"/>
              </a:lnSpc>
              <a:buNone/>
            </a:pPr>
            <a:r>
              <a:rPr lang="en-US" sz="585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to edit body copy</a:t>
            </a:r>
            <a:endParaRPr lang="en-US" sz="5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2026-07-20T14:36:09Z</dcterms:created>
  <dcterms:modified xsi:type="dcterms:W3CDTF">2026-07-20T14:36:09Z</dcterms:modified>
</cp:coreProperties>
</file>